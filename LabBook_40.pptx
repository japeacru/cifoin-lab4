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89" r:id="rId3"/>
    <p:sldId id="290" r:id="rId4"/>
    <p:sldId id="291" r:id="rId5"/>
    <p:sldId id="298" r:id="rId6"/>
    <p:sldId id="297" r:id="rId7"/>
    <p:sldId id="296" r:id="rId8"/>
    <p:sldId id="292" r:id="rId9"/>
    <p:sldId id="293" r:id="rId10"/>
    <p:sldId id="299" r:id="rId11"/>
    <p:sldId id="300" r:id="rId12"/>
    <p:sldId id="301" r:id="rId13"/>
    <p:sldId id="294" r:id="rId14"/>
    <p:sldId id="295" r:id="rId15"/>
    <p:sldId id="288" r:id="rId16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17" autoAdjust="0"/>
    <p:restoredTop sz="95033" autoAdjust="0"/>
  </p:normalViewPr>
  <p:slideViewPr>
    <p:cSldViewPr>
      <p:cViewPr varScale="1">
        <p:scale>
          <a:sx n="111" d="100"/>
          <a:sy n="111" d="100"/>
        </p:scale>
        <p:origin x="11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02/06/2026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02/06/2026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7AEC-015A-4808-9AC9-382D824E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C03EDA-741F-B6F5-3444-A8D74D690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839219-55CF-753A-3C53-04F6B1E28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4B99BF-32CC-B000-CB3E-0CD66FF7C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642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FEFD-B507-247B-F58E-71186156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48D75B-541D-4818-C136-BBE3071AB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417D2C-6122-996A-4D0E-7B4726000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99F406-AF99-391D-EB3C-A8F84CDAC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035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4DB8-4BD0-4C04-11AA-EA64AD77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D65D447-3652-3CFC-DF28-7AE0BC83B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1236E7-899E-110C-0F29-B829B2792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6D4F0D-D000-5E61-5249-B72786958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4700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E5FE-E5FD-AA88-D645-CF52CCFB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A2B5C6-5A39-5D7A-A1F1-250415CC2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2A750A-9F6E-00EF-5FF7-AD6FD7941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F4681F-530D-8388-5196-6754E31E4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8558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BF37-98F6-CD9B-2255-0A64B5CE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68927E-2442-0553-FBC8-D3C32BCC5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130D77-4D33-EE41-3A9E-4EB6D241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BAC07D-EBC4-F68A-7BE7-2B2DCCECD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5431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88B3-C141-4645-2F2A-A09F4082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22BAD8-B0CC-3164-3027-A210D7EB7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995D4B-1202-927A-28C9-66F35C33A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56FFEE-1184-FFA2-1E7F-CC9E8439A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95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18364-5FB9-A910-CA28-0CB1AB8B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42B0AC-0A86-A94B-B392-F0CDBE2FB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52A67F-0647-B64F-B721-F9892CB31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370700-2B4D-6DEC-4032-98ECF4675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8767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F9B3B-6F8B-305A-3973-B610A8B2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D00C3A-4E07-51E6-67AF-D1D632143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B860B7-B37C-11E5-FD9C-B32D8E904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73A8A5-B7C3-21AA-7A30-7D5CA8B9F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5359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91E37-C099-BFAF-435A-9593AFA8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D950CF-52D1-AF5C-CB82-F5D67D475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14ED31-B507-254C-78F0-3CA227026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FCCA78-4177-0C14-DDFE-3DA7E267D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9325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EAE7-9EAB-544B-26F0-D89AD57C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142DDC-39F3-B8EF-C550-B1BDBF798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4E7676-8E00-A60E-B890-D4F612C9A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8AAF8C-62CF-3619-1C70-91E48BE9A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104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69CA-A6E9-D0C3-4D3A-6AF908910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EC97DB9-2632-3700-0312-BB76DC46D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897758-8CC0-1479-13D7-87B5FBD74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60DEFB-1A44-3354-5B15-298FF8A10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6459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Texto del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4.0. LAYOUT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scualmunoz/cifoin-lab4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latin typeface="Lucida Sans"/>
                <a:cs typeface="Lucida Sans"/>
              </a:rPr>
              <a:t>Lab Book 4.0 </a:t>
            </a:r>
            <a:r>
              <a:rPr lang="es-ES" sz="3200" b="1">
                <a:latin typeface="Lucida Sans"/>
                <a:cs typeface="Lucida Sans"/>
              </a:rPr>
              <a:t>Layout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s-ES" spc="165" dirty="0" err="1">
                <a:latin typeface="Arial"/>
                <a:cs typeface="Arial"/>
              </a:rPr>
              <a:t>Students</a:t>
            </a:r>
            <a:r>
              <a:rPr lang="es-ES" spc="165" dirty="0">
                <a:latin typeface="Arial"/>
                <a:cs typeface="Arial"/>
              </a:rPr>
              <a:t>: </a:t>
            </a:r>
            <a:r>
              <a:rPr lang="es-ES" dirty="0"/>
              <a:t>Pablo de Manuel Vicente, José Alberto Peña Cruz (GRUPO B1)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3"/>
              </a:rPr>
              <a:t>https://github.com/pascualmunoz/cifoin-lab4.git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folder / repo in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terminal: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uv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 sync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LAYOUT_STUDENT.ipynb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kern="0" dirty="0">
              <a:solidFill>
                <a:sysClr val="windowText" lastClr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LO1: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LO2: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LO3: 1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LO4: 3 points</a:t>
            </a:r>
          </a:p>
          <a:p>
            <a:pPr algn="just"/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#1a – Notebook section 1. Technology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s-ES" b="0" i="1" spc="-5" dirty="0">
                <a:latin typeface="+mj-lt"/>
              </a:rPr>
              <a:t>“</a:t>
            </a:r>
            <a:r>
              <a:rPr lang="es-ES" b="0" i="1" spc="-5" dirty="0" err="1">
                <a:latin typeface="+mj-lt"/>
              </a:rPr>
              <a:t>We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will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work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with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demo UPVfab PDK. </a:t>
            </a:r>
            <a:r>
              <a:rPr lang="es-ES" b="0" i="1" spc="-5" dirty="0" err="1">
                <a:latin typeface="+mj-lt"/>
                <a:cs typeface="Lucida Sans"/>
              </a:rPr>
              <a:t>Let's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view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layer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distribution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of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this</a:t>
            </a:r>
            <a:r>
              <a:rPr lang="es-ES" b="0" i="1" spc="-5" dirty="0">
                <a:latin typeface="+mj-lt"/>
                <a:cs typeface="Lucida Sans"/>
              </a:rPr>
              <a:t> PDK”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467846" y="1420406"/>
            <a:ext cx="5715159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Un PDK, o Process 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Kit, es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el conjunto de archivos, reglas de diseño, mapas de capas, librerías de componentes, modelos y documentación que proporciona una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foundry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para poder diseñar un circuito fotónico integrado compatible con su proceso de fabricación.</a:t>
            </a:r>
          </a:p>
          <a:p>
            <a:pPr algn="just"/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En general, las capas de </a:t>
            </a:r>
            <a:r>
              <a:rPr lang="es-E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 de un PDK representan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los distintos niveles físicos o máscaras que se usarán durante la fabricación del chip. Cada capa tiene una función concreta dentro del diseño: definir guías ópticas, zonas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slab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heaters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metálicos,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pads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eléctricos, límites del chip o etiquetas de identificación.</a:t>
            </a:r>
          </a:p>
          <a:p>
            <a:pPr algn="just"/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En nuestro PDK particular encontramos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las siguientes capas:</a:t>
            </a:r>
          </a:p>
          <a:p>
            <a:pPr algn="just"/>
            <a:endParaRPr lang="es-E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WG, 1/0: capa principal de guía de onda óptica.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HEATER, 4/0: capa de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heaters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metálicos para sintonización térmica.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SLAB, 21/0: capa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slab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, asociada a regiones de guía parcialmente grabadas o de soporte óptico.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PAD, 41/0: capa de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pads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metálicos para conexiones eléctricas.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FLOORPLAN, 99/0: capa que define el contorno o área disponible del chip.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LABEL_SETTINGS, 100/0: capa de etiquetas de configuración del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LABEL_INSTANCE, 101/0: capa de etiquetas de instancia o identificación de celdas.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AE4A84-532D-D50D-F368-79FF1C11E97A}"/>
              </a:ext>
            </a:extLst>
          </p:cNvPr>
          <p:cNvSpPr/>
          <p:nvPr/>
        </p:nvSpPr>
        <p:spPr>
          <a:xfrm>
            <a:off x="7619434" y="4726434"/>
            <a:ext cx="3048159" cy="141789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EC3D78-C227-4F8E-7F5D-F398FB043D2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5806D5A-9C65-5DDA-AF7C-30CC28E9C38F}"/>
              </a:ext>
            </a:extLst>
          </p:cNvPr>
          <p:cNvSpPr txBox="1"/>
          <p:nvPr/>
        </p:nvSpPr>
        <p:spPr>
          <a:xfrm>
            <a:off x="7925522" y="2496339"/>
            <a:ext cx="243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Paste </a:t>
            </a:r>
            <a:r>
              <a:rPr lang="es-ES" dirty="0" err="1"/>
              <a:t>plot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layers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18ECD3-A0A9-E9D6-049C-CA1157072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35" y="4848363"/>
            <a:ext cx="2752381" cy="120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06D7DC2-E701-284A-F9A4-9A7760BA0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5726" y="1542335"/>
            <a:ext cx="4114800" cy="31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1758-3D0C-3510-194A-4075C73D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609441" y="4860334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El primer componente es el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directional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coupler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2x2 diseñado en el Lab2.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Su objetivo es funcionar como acoplador 50:50, por lo que la constante de acoplo objetivo es K = 0.5.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A partir del diseño del Lab2 se obtuvo una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= 94.027 µm, por lo que la longitud de la región de acoplo usada en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L_coupler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/2 = 47.013 µm.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La separación entre las dos guías en la zona de acoplo es gap = 0.6 µm.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6224819-75AC-EB82-A160-7A3DE5BF0740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877566-4E2F-8CE5-3749-EB4B91552614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7ABE2D-6D28-CDBC-685F-ACE14A8E7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585" y="1524524"/>
            <a:ext cx="3786281" cy="311707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BFC2595-3D53-A1E4-F55C-965E609BB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215" y="1462068"/>
            <a:ext cx="4312302" cy="325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2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03F6-520B-0D90-037F-75271D78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16ADD87-09A1-3BB0-06EB-EDB91AA2A9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027AE9C-38AD-925C-44D3-A1488AA17D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5F8291A-74FC-69CF-2819-A55528BEFEF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20255F-CADD-0ECC-ED0E-7C04250A1AD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383C362-D660-924A-A354-53E516CA93C1}"/>
              </a:ext>
            </a:extLst>
          </p:cNvPr>
          <p:cNvSpPr txBox="1"/>
          <p:nvPr/>
        </p:nvSpPr>
        <p:spPr>
          <a:xfrm>
            <a:off x="609441" y="4678160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Este componente es el MMI 2x2 que hemos obtenido a partir del diseño del Lab2.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Un MMI utiliza una región central más ancha para excitar varios modos ópticos. Ajustando bien su longitud, esos modos interfieren de forma que la potencia se reparte entre las salidas.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En nuestro caso lo hemos usado como divisor/acoplador 50:50, así que hemos mantenido los valores optimizados del Lab2: W_MMI = 6.6 µm y L_MMI = 33.918 µm.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Los accesos están colocados en y = ±1.165 µm respecto al eje central, ya que esa posición nos permitía equilibrar mejor la potencia en ambas salidas. Todos los puertos están definidos en la capa WG 1/0, con anchura de 1.7 µm.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Según la tabla de puertos, las entradas quedan en x = -20 µm y las salidas en x = 53.918 µm.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84A8CBA-7496-B6B4-6C30-A2E6B281D58B}"/>
              </a:ext>
            </a:extLst>
          </p:cNvPr>
          <p:cNvSpPr/>
          <p:nvPr/>
        </p:nvSpPr>
        <p:spPr>
          <a:xfrm>
            <a:off x="609441" y="1418373"/>
            <a:ext cx="5332571" cy="3151115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A328C0-9DD8-A956-F669-A7EB3FFEE992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E49E5C-3548-7AC4-E148-CAC5211D3758}"/>
              </a:ext>
            </a:extLst>
          </p:cNvPr>
          <p:cNvSpPr/>
          <p:nvPr/>
        </p:nvSpPr>
        <p:spPr>
          <a:xfrm>
            <a:off x="6476841" y="1420406"/>
            <a:ext cx="5332571" cy="313970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93004E-651D-7771-3F79-72D2B8BC0802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435281-6C51-04E4-1BD5-6716800C5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292" y="1440942"/>
            <a:ext cx="4101668" cy="309635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086EDDF-CF15-7041-1E9C-07960BA63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520619"/>
            <a:ext cx="2458222" cy="293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9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A4BAA-9D79-0F0E-C139-738C048BA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7DB9176-8B73-030B-05E2-963E70D84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44508D-C4D2-BF65-1CBA-05329BE29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D9AF0AC-07FF-2FCA-0428-84348E4088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FD135D-9FAB-5A78-2CF8-A7081F11B93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7A5C0E-41AE-D890-978A-700EC4B605BE}"/>
              </a:ext>
            </a:extLst>
          </p:cNvPr>
          <p:cNvSpPr txBox="1"/>
          <p:nvPr/>
        </p:nvSpPr>
        <p:spPr>
          <a:xfrm>
            <a:off x="609441" y="4531191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Este componente es el MZI desbalanceado que hemos llevado 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a partir del diseño del Lab3.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Un MZI funciona dividiendo la luz en dos brazos y volviéndola a combinar después, de forma que si los dos caminos tienen distinta longitud, aparece una diferencia de fase dependiente de la longitud de onda y se obtiene una respuesta periódica.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En nuestro caso hemos usado una diferencia de longitud ΔL = 120.125 µm, que era la obtenida en Lab3 para buscar un FSR cercano a 10 nm.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s-E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splitter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200" i="1" dirty="0" err="1">
                <a:latin typeface="Arial" panose="020B0604020202020204" pitchFamily="34" charset="0"/>
                <a:cs typeface="Arial" panose="020B0604020202020204" pitchFamily="34" charset="0"/>
              </a:rPr>
              <a:t>combiner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hemos reutilizado el MMI 2x2 diseñado anteriormente, de forma que el reparto de potencia sea aproximadamente 50:50.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Todos los puertos están en la capa WG 1/0, con anchura 1.7 µm, y en la tabla se observa que las entradas quedan en x = -20 µm y las salidas en x = 527.936 µm.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9FC2878-DD97-447C-E629-B7B00C45C2EC}"/>
              </a:ext>
            </a:extLst>
          </p:cNvPr>
          <p:cNvSpPr/>
          <p:nvPr/>
        </p:nvSpPr>
        <p:spPr>
          <a:xfrm>
            <a:off x="615192" y="921819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D411EC-B320-89E6-35CD-6A08C8F95786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1BC9EE-FE1C-B87D-65DC-F6541BCC3C80}"/>
              </a:ext>
            </a:extLst>
          </p:cNvPr>
          <p:cNvSpPr/>
          <p:nvPr/>
        </p:nvSpPr>
        <p:spPr>
          <a:xfrm>
            <a:off x="6476841" y="921819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BD14849-FB0D-4BA6-B1F4-4C9B70D649CC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622750-3589-E255-A9B2-BE6B39111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016" y="1030975"/>
            <a:ext cx="4090219" cy="308771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1134127-AEF6-3E4D-F776-6D08D65F3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490" y="1030975"/>
            <a:ext cx="3952619" cy="315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06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AABE9-0626-EDF5-0F4A-70E642B66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0B2A64C5-C05D-6EC8-A032-44B308C7D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1 slide per component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9218D80-1E3B-C8C2-0504-3D592D04E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617DA04-9055-28E6-8C91-BBCED8F945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BDF9C4-35A2-DD02-3699-9CDB07E6FB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09C8539-4409-5928-8E8F-98CA993768AC}"/>
              </a:ext>
            </a:extLst>
          </p:cNvPr>
          <p:cNvSpPr txBox="1"/>
          <p:nvPr/>
        </p:nvSpPr>
        <p:spPr>
          <a:xfrm>
            <a:off x="480239" y="4419324"/>
            <a:ext cx="11199971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Este componente es el resonador de anillo tipo “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all-pass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” que hemos pasado 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a partir del diseño del Lab3.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Está formado por una guía recta, llamada bus, acoplada lateralmente a una guía cerrada en forma de anillo. La idea es que parte de la potencia que viaja por la guía bus se acople al anillo y pueda recircular varias veces.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En Lab3 diseñamos el resonador para un FSR objetivo de 15 nm, obteniendo una longitud de vuelta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L_ring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= 80.08 µm y un coeficiente de acoplo objetivo K = 0.5.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Para el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hemos usado el radio equivalente calculado a partir de esa longitud, R =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L_ring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/(2π) = 12.75 µm.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Además, hemos añadido una sección recta de acoplo de 10 µm y un gap de 0.25 µm para que la zona de acoplo quede clara en el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El componente está definido sobre la capa WG 1/0 con puertos ópticos de anchura 0.5 µm.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7787E4D-39ED-F386-EFA8-0D32EB6389EB}"/>
              </a:ext>
            </a:extLst>
          </p:cNvPr>
          <p:cNvSpPr/>
          <p:nvPr/>
        </p:nvSpPr>
        <p:spPr>
          <a:xfrm>
            <a:off x="480239" y="94065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7F57299-61E6-B7CF-A70E-F7574136DE56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266D32-9194-CA01-87FD-F266A6E0F09C}"/>
              </a:ext>
            </a:extLst>
          </p:cNvPr>
          <p:cNvSpPr/>
          <p:nvPr/>
        </p:nvSpPr>
        <p:spPr>
          <a:xfrm>
            <a:off x="6347639" y="94268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94E525B-3C36-DD3F-000E-CBE03B49BA99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9CE5E80-1954-7AAC-B2C6-B115E6E63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742" y="979660"/>
            <a:ext cx="3912044" cy="322801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E51A072-9956-57C7-7FD4-1DB67F3FE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902" y="1117061"/>
            <a:ext cx="3912044" cy="295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989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B0A8-BCE1-AF65-5AFA-79184BED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DCA2EEE-70B8-D049-D7BD-B54DCCF32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#2a – Notebook section 2. Layout Fundamentals</a:t>
            </a:r>
            <a:br>
              <a:rPr lang="en-US" sz="2500" dirty="0"/>
            </a:br>
            <a:r>
              <a:rPr lang="en-US" sz="1800" b="0" i="1" dirty="0"/>
              <a:t>“Once that we have a working 'new' component, we shall convert it into a Cell. This will allow us to have a hierarchical design”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DB8C9DA-7093-6464-A7C1-20B2A585A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102C027-A211-C670-7EF5-D7A4650EEA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B5A66E-75F8-8688-0D68-26E0DDB3AC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5C0B36B-B4BD-C242-E1BB-26DD7AC56DB0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En esta parte vemos un ejemplo de die o chip como una celda jerárquica. La función define el contorno del chip en la capa FLOORPLAN y añade un borde interior, de forma que podemos visualizar el área útil donde se colocarán los componentes fotónicos.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La importancia de convertirlo en una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cell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radica en que el mismo bloque se puede reutilizar varias veces dentro de un diseño mayor. En la imagen se ven varias instancias del die, con distintos tamaños y posiciones, sin tener que redibujar cada una desde cero.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Esto es especialmente útil ya que en un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real se trabaja de forma jerárquica, como hemos visto en la teoría. Primero se definen bloques básicos y después se colocan y conectan dentro del chip completo.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9364F4-A34A-5161-07CB-E12F9FFCB400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A2AA3F-CE55-C50B-CB18-2C8D2061FDB9}"/>
              </a:ext>
            </a:extLst>
          </p:cNvPr>
          <p:cNvSpPr txBox="1"/>
          <p:nvPr/>
        </p:nvSpPr>
        <p:spPr>
          <a:xfrm>
            <a:off x="1531412" y="2494306"/>
            <a:ext cx="3488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Example code for</a:t>
            </a:r>
          </a:p>
          <a:p>
            <a:pPr algn="ctr"/>
            <a:r>
              <a:rPr lang="en-US" dirty="0"/>
              <a:t>“A die (chip) for a photonic layout”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FC788C-53E2-83E7-3D9E-EBD582171C71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44A1ED-9D94-1354-DB46-756E574E2C7E}"/>
              </a:ext>
            </a:extLst>
          </p:cNvPr>
          <p:cNvSpPr txBox="1"/>
          <p:nvPr/>
        </p:nvSpPr>
        <p:spPr>
          <a:xfrm>
            <a:off x="8483018" y="2496339"/>
            <a:ext cx="1320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Example</a:t>
            </a:r>
            <a:r>
              <a:rPr lang="es-ES" dirty="0"/>
              <a:t> die</a:t>
            </a:r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611DF20-03F2-D3C2-C065-E7998D348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418" y="1474235"/>
            <a:ext cx="4231416" cy="31943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1E53E29-862A-87EF-3234-B5797B34E1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826" y="1756820"/>
            <a:ext cx="5220437" cy="261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4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281E-4B83-CADF-E05C-2779A19E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E0254F2-3F36-2B82-F469-33464298D91B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3FEAF8-E86E-C0D9-CF90-DD3A4266C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85" y="1471613"/>
            <a:ext cx="5045015" cy="447633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AC46F17-1267-6B68-83EE-DA1150571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1542917"/>
            <a:ext cx="5050810" cy="381286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719B649-2F96-4D5E-56DF-50E7D4B8AC79}"/>
              </a:ext>
            </a:extLst>
          </p:cNvPr>
          <p:cNvSpPr txBox="1"/>
          <p:nvPr/>
        </p:nvSpPr>
        <p:spPr>
          <a:xfrm>
            <a:off x="6629400" y="5420341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La primera instancia es el acoplador direccional visto anteriormente, y adicionalmente con las otras 2 demostramos que la misma celda se puede reutilizar cambiando parámetros.</a:t>
            </a:r>
          </a:p>
        </p:txBody>
      </p:sp>
    </p:spTree>
    <p:extLst>
      <p:ext uri="{BB962C8B-B14F-4D97-AF65-F5344CB8AC3E}">
        <p14:creationId xmlns:p14="http://schemas.microsoft.com/office/powerpoint/2010/main" val="1504002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AB2D8-1C39-9C66-9B89-D566CC698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2D48625-1C82-DBB4-913C-70F6C61D1B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CFA9FF5-8FFE-3786-7529-79975F051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AE23808-3086-B1BD-C63A-C0F94EA0DE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29283B-E105-B3E7-20B4-7BCEFC0E71B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636A2A0-F851-A09C-1515-FFD9AC73AE00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C3D586-F8DC-1AE0-3EF9-C133001130A4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026A42F-EF5D-944C-6640-8F379606CA63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2C2DB07-3275-5D21-60B3-79063CF58086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F24CAF-D146-9E5E-789D-B33DF58B7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795" y="1818094"/>
            <a:ext cx="4794662" cy="36195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6EE7864-1DBE-069C-DE23-6959DE71C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594" y="1452411"/>
            <a:ext cx="2800411" cy="473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464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6C894-2823-BA52-A099-18B6B3FAD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3A1E1B4-2F1B-D00A-6CDB-2F3C89EB1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7C1BF71B-393B-9471-A88F-63868BC632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31D1EC0F-1251-D8C6-B16C-970901095A7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2007D0D-6350-5DA5-2051-E90AB4733B1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2F4BF54-BAF3-EAA9-7EF2-A4B966C324E5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781917-5FA1-0802-98FF-5714207293EF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BE4B45-850A-7A35-89D2-F1C8C0DFC8C9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E09A17F-41A7-3D4D-2A08-E0BA92149893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1FE5DD7-78A1-F92B-C1C4-850DBC9C3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1676400"/>
            <a:ext cx="2904762" cy="361904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59DB7B7-56AE-2CEC-B1AC-26CB1FFAB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2153" y="1798419"/>
            <a:ext cx="4632428" cy="349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114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BA36C-C775-73C9-1B75-0F0A1F2E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54CCF96-EC2B-8AEB-C6E8-EC8E2598D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1 slide per component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3262DDE-C09E-5531-BF65-88C5304EF2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CC63B39-FDA6-0108-BC90-3CC04E14236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143986-4F3F-4FE5-E5A5-FDA459E091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3E8DE9-FAAE-7281-B535-7248F032DA1A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C8E6F84-33CF-A1CF-9A7A-546D83111E3D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9028C20-15FA-3C83-BC7E-3568B280DA33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A84EA9-2366-E036-2AC4-7AABF7D3BAFA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07358E-D471-C32C-094B-CA591D03A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1493735"/>
            <a:ext cx="2651801" cy="464631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CC882DB-EEBA-F031-CE45-48E89D9CE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623" y="1981200"/>
            <a:ext cx="5029005" cy="379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69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C463A-FEB0-DAC2-C592-982AED78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D9825A0-3864-7B82-F4C0-6912BF1AE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Notebook section 3. Complete layout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DEB6AD1-A7A1-CBBC-33E2-C1A03F2E3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0F7002D-478B-4959-3169-5E518898EB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05F97E-3B7E-8203-F806-FFA5E41962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187553-D412-F56C-DD26-11B2C97C2B31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Read and describe 4 code blocks in section 3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1: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2: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3: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Python code block 4: 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4B67F4D-126C-4796-4E73-E68F0F3CB6B3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F5FE71-3005-DD28-5A06-1330678AD855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Complete </a:t>
            </a:r>
            <a:r>
              <a:rPr lang="es-ES" dirty="0" err="1"/>
              <a:t>layout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s-ES" dirty="0"/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81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87F0-CB2C-2FE5-5614-A0F16A62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02B708D-0704-5977-EC6F-88CF05CBBE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1 slide per bullet point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5386122-0096-23D3-AB3A-550FBF0A3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13FD8D6-DEAF-544C-DE8A-FEED1CFD25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B40145-CD7B-EB6E-E37D-B6E973BB915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D55FC-5031-5DAE-893E-BF1355747932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Code for …</a:t>
            </a:r>
          </a:p>
          <a:p>
            <a:pPr algn="jus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a) Creating components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 unbalanced MZI, using 2x2 50:50 MMIs with arm length difference as parameter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arms have thermal tuners on top of each one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for an all-pass ring resonator, using 2x2 50:50 MMIs, with extra length parameter for different perimeters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the previous, where the ring has a thermal tuner on top along all the perimeter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based on existing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GDSfactory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spiral components, with length as parameter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b) Creating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die  W = 5 mm x L = 10 mm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an array of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spaced at 250 µm (as much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as the width allows)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Create a cell component of this die, with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accessible to connect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Part c) 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Floorplaning</a:t>
            </a: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and die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Make an instance of the die as host component for your layout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3 sets of 3 straight waveguides, from left to right of the die, top, middle and bottom of the die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Add 2 of each of the components above, with different lengths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- Connect all your components to the I/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7F15AC0-F440-2DF1-6C9D-0A7E2EAFC2C8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52515D-9AC0-62DB-2A62-0C197A32C5E7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738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</TotalTime>
  <Words>1857</Words>
  <Application>Microsoft Office PowerPoint</Application>
  <PresentationFormat>Panorámica</PresentationFormat>
  <Paragraphs>161</Paragraphs>
  <Slides>15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Lucida Sans</vt:lpstr>
      <vt:lpstr>Wingdings</vt:lpstr>
      <vt:lpstr>Office Theme</vt:lpstr>
      <vt:lpstr>Presentación de PowerPoint</vt:lpstr>
      <vt:lpstr>Instructions General</vt:lpstr>
      <vt:lpstr>Learning outcome #1a – Notebook section 1. Technology “We will work with the demo UPVfab PDK. Let's view the layer distribution of this PDK”</vt:lpstr>
      <vt:lpstr>Learning outcome #1b – Notebook section 1. Technology – 1 slide per component “Use your design results from Lab2 and Lab3 to create layout instances of your designed components: DCs, MMIs, MZIs &amp; Ring Resonators”</vt:lpstr>
      <vt:lpstr>Learning outcome #1b – Notebook section 1. Technology – 1 slide per component </vt:lpstr>
      <vt:lpstr>Learning outcome #1b – Notebook section 1. Technology – 1 slide per component </vt:lpstr>
      <vt:lpstr>Learning outcome #1b – Notebook section 1. Technology – 1 slide per component</vt:lpstr>
      <vt:lpstr>Learning outcome #2a – Notebook section 2. Layout Fundamentals “Once that we have a working 'new' component, we shall convert it into a Cell. This will allow us to have a hierarchical design”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#2a – Notebook section 2. Layout Fundamentals – 1 slide per component “Use your design results from Lab2 and Lab3 to create layout instances of your designed components: DCs, MMIs, MZIs &amp; Ring Resonators”  Make cells for all your components</vt:lpstr>
      <vt:lpstr>Learning outcome #3 – Notebook section 3. Complete layout</vt:lpstr>
      <vt:lpstr>Learning outcome #4 – Notebook section 4. Exercises – 1 slide per bullet point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Pablo de Manuel Y Vicente</cp:lastModifiedBy>
  <cp:revision>33</cp:revision>
  <dcterms:created xsi:type="dcterms:W3CDTF">2025-01-27T02:46:57Z</dcterms:created>
  <dcterms:modified xsi:type="dcterms:W3CDTF">2026-06-03T09:35:52Z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