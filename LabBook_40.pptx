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89" r:id="rId3"/>
    <p:sldId id="290" r:id="rId4"/>
    <p:sldId id="291" r:id="rId5"/>
    <p:sldId id="298" r:id="rId6"/>
    <p:sldId id="297" r:id="rId7"/>
    <p:sldId id="296" r:id="rId8"/>
    <p:sldId id="292" r:id="rId9"/>
    <p:sldId id="293" r:id="rId10"/>
    <p:sldId id="299" r:id="rId11"/>
    <p:sldId id="300" r:id="rId12"/>
    <p:sldId id="301" r:id="rId13"/>
    <p:sldId id="294" r:id="rId14"/>
    <p:sldId id="302" r:id="rId15"/>
    <p:sldId id="304" r:id="rId16"/>
    <p:sldId id="295" r:id="rId17"/>
    <p:sldId id="305" r:id="rId18"/>
    <p:sldId id="316" r:id="rId19"/>
    <p:sldId id="315" r:id="rId20"/>
    <p:sldId id="314" r:id="rId21"/>
    <p:sldId id="308" r:id="rId22"/>
    <p:sldId id="313" r:id="rId23"/>
    <p:sldId id="312" r:id="rId24"/>
    <p:sldId id="311" r:id="rId25"/>
    <p:sldId id="310" r:id="rId26"/>
    <p:sldId id="309" r:id="rId27"/>
    <p:sldId id="307" r:id="rId28"/>
    <p:sldId id="306" r:id="rId29"/>
    <p:sldId id="288" r:id="rId3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17" autoAdjust="0"/>
    <p:restoredTop sz="95033" autoAdjust="0"/>
  </p:normalViewPr>
  <p:slideViewPr>
    <p:cSldViewPr>
      <p:cViewPr>
        <p:scale>
          <a:sx n="50" d="100"/>
          <a:sy n="50" d="100"/>
        </p:scale>
        <p:origin x="1042" y="2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10/06/2026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FEFD-B507-247B-F58E-71186156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448D75B-541D-4818-C136-BBE3071AB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417D2C-6122-996A-4D0E-7B4726000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99F406-AF99-391D-EB3C-A8F84CDAC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2035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D4DB8-4BD0-4C04-11AA-EA64AD77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D65D447-3652-3CFC-DF28-7AE0BC83B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1236E7-899E-110C-0F29-B829B2792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6D4F0D-D000-5E61-5249-B72786958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4700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BE5FE-E5FD-AA88-D645-CF52CCFB6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A2B5C6-5A39-5D7A-A1F1-250415CC2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2A750A-9F6E-00EF-5FF7-AD6FD7941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F4681F-530D-8388-5196-6754E31E4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8558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18364-5FB9-A910-CA28-0CB1AB8B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42B0AC-0A86-A94B-B392-F0CDBE2FB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52A67F-0647-B64F-B721-F9892CB31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370700-2B4D-6DEC-4032-98ECF4675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8767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9B3B-6F8B-305A-3973-B610A8B2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D00C3A-4E07-51E6-67AF-D1D632143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B860B7-B37C-11E5-FD9C-B32D8E904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73A8A5-B7C3-21AA-7A30-7D5CA8B9F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5359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91E37-C099-BFAF-435A-9593AFA8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ED950CF-52D1-AF5C-CB82-F5D67D475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E14ED31-B507-254C-78F0-3CA2270262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FCCA78-4177-0C14-DDFE-3DA7E267D9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93251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45B72-6BD0-50C0-BC5E-6883A1FB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FE526E-B6E2-5121-238B-15EB5B77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A8A32C-DACD-8E27-13AE-8143ABDFA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1F61A7-9402-2676-2E1D-F0B26536F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66238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D0545-76F6-9897-DBDD-67B0E0E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8D579B7-6695-6629-44E7-E7CA96293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FDED7C1-0C7A-E64B-D3A2-DB70649F8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FA636BE-89C0-23DD-8152-802A32F53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46494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169CA-A6E9-D0C3-4D3A-6AF908910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EC97DB9-2632-3700-0312-BB76DC46D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897758-8CC0-1479-13D7-87B5FBD74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60DEFB-1A44-3354-5B15-298FF8A10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64594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3302-C51B-1481-63F4-76249C8B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365FC34-1E79-9703-FE20-E6476F461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3DE8658-CE8A-A8FA-FABF-CF42F5C57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757438-57F7-A3A1-28B6-5FF90024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22799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0D7E4-C1A1-1FFD-611B-786A536C0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CC35283-A632-BE36-20BC-FF6FC9DD6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0F01BF-C67E-5E88-1DF9-4136C1BD96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4A3628-3E73-57C8-6B8F-D1DC024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0848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0659-BA41-D0AB-D04C-110920F4B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3AF224-D776-FAE5-0FB9-CF11F59313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150A5E7-D3E2-8A81-27C5-0210D30A1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A35B2FD-6F6E-4C2C-EF2B-C00F3DCE4C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94995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37EA4-370B-64DB-FE11-AE547B7C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6446547-FACB-9F3E-1CE5-67D8A26A2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AC76C27-8F7E-CCA5-E849-D3EA8059F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7A5F4A-368F-9F98-BFBE-DF7541704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332549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62FA3-78A0-4F90-C338-9BA4BD96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105646-E09D-C671-BAB8-DAEAD3036B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CEF2B6-C8DB-4661-0DE6-56BBEA861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EED667-929E-79FF-CB1A-621DABEFCF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70233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0F11-51C5-D380-0A3A-ADC0770A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A6031E-FBC5-5B59-5D64-C3A44860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5D0AABB-96A1-F74C-9B47-487EF6BB1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ED45E4E-9B79-24D7-480F-1B2958D47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721409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72E5-C595-B7F8-3856-34264B96B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59C0815-358C-FF54-F935-8E13D0A415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A037434-503E-B7D0-F698-14B399469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87011D-E843-56E1-0B9C-272CE4F8C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4548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2A5D8-F2C5-74D4-33C8-268D7768F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1273DC-4B21-903E-6F07-0199E5DCB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4855EE-64D5-A39F-4CFC-87C4F30AE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A608CF-8358-8FCC-C0DD-98A17F09A9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0906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83EEE-1054-B7CE-C6DB-627B9D2BF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89BCD3F-0018-C4E3-0FE8-F36A7A02E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274275-419B-CC51-54DD-D58FCA146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F21A584-FEF5-58E6-E185-11498461B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8116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9A2A3-5F46-B019-F4B5-96CCEAF57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DB951D-09C4-F1D2-EBBD-69F5BF93D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0D916E6-6EC4-ADC0-7BCD-AF47EBE33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84802E4-7EEC-FF0C-297D-B298C1E8F0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1281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F984E-97B6-92B2-84BC-1A4D77632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AA64C8-03C1-6298-49D8-653C97974C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4F1B52D-96FF-D1FA-7D4C-C7CAD3F81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DE7D01-FB3A-5019-F94E-D314F2DDE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8933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CEC1-3DBC-DBA7-2BE6-5ABF03409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9CFAFBC-4EEB-F557-84CA-51E5134F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1CE599-607D-DEBC-25E7-8A1BEFD034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99A66E-6EED-8989-99D4-1F9586252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6355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</a:t>
            </a:r>
            <a:r>
              <a:rPr lang="es-ES" sz="3200" b="1">
                <a:latin typeface="Lucida Sans"/>
                <a:cs typeface="Lucida Sans"/>
              </a:rPr>
              <a:t>Layout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pc="165" dirty="0" err="1">
                <a:latin typeface="Arial"/>
                <a:cs typeface="Arial"/>
              </a:rPr>
              <a:t>Students</a:t>
            </a:r>
            <a:r>
              <a:rPr lang="es-ES" spc="165" dirty="0">
                <a:latin typeface="Arial"/>
                <a:cs typeface="Arial"/>
              </a:rPr>
              <a:t>: </a:t>
            </a:r>
            <a:r>
              <a:rPr lang="es-ES" dirty="0"/>
              <a:t>Pablo de Manuel Vicente, José Alberto Peña Cruz (GRUPO B1)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467846" y="1420406"/>
            <a:ext cx="5715159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Un PDK, o Process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Kit, es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el conjunto de archivos, reglas de diseño, mapas de capas, librerías de componentes, modelos y documentación que proporciona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foundry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para poder diseñar un circuito fotónico integrado compatible con su proceso de fabricación.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En general, las capas de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de un PDK representan 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los distintos niveles físicos o máscaras que se usarán durante la fabricación del chip. Cada capa tiene una función concreta dentro del diseño: definir guías ópticas, zonas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heaters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pads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eléctricos, límites del chip o etiquetas de identificación.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En nuestro PDK particular encontramos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las siguientes capas: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WG, 1/0: capa principal de guía de onda óptica.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HEATER, 4/0: capa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heaters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 para sintonización térmica.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SLAB, 21/0: capa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asociada a regiones de guía parcialmente grabadas o de soporte óptico.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PAD, 41/0: capa de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pads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metálicos para conexiones eléctricas.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FLOORPLAN, 99/0: capa que define el contorno o área disponible del chip.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LABEL_SETTINGS, 100/0: capa de etiquetas de configuración del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LABEL_INSTANCE, 101/0: capa de etiquetas de instancia o identificación de celdas.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7619434" y="4726434"/>
            <a:ext cx="3048159" cy="141789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018ECD3-A0A9-E9D6-049C-CA1157072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6935" y="4848363"/>
            <a:ext cx="2752381" cy="120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06D7DC2-E701-284A-F9A4-9A7760BA06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5726" y="1542335"/>
            <a:ext cx="4114800" cy="31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83099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El primer componente es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directional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coupler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2x2 diseñado en el Lab2.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Su objetivo es funcionar como acoplador 50:50, por lo que la constante de acoplo objetivo es K = 0.5.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 partir del diseño del Lab2 se obtuvo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94.027 µm, por lo que la longitud de la región de acoplo usada en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L_coupler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/2 = 47.013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 separación entre las dos guías en la zona de acoplo es gap = 0.6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6224819-75AC-EB82-A160-7A3DE5BF0740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7ABE2D-6D28-CDBC-685F-ACE14A8E7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585" y="1524524"/>
            <a:ext cx="3786281" cy="311707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BFC2595-3D53-A1E4-F55C-965E609BB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215" y="1462068"/>
            <a:ext cx="4312302" cy="325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503F6-520B-0D90-037F-75271D78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16ADD87-09A1-3BB0-06EB-EDB91AA2A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027AE9C-38AD-925C-44D3-A1488AA1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5F8291A-74FC-69CF-2819-A55528BEFEF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620255F-CADD-0ECC-ED0E-7C04250A1AD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383C362-D660-924A-A354-53E516CA93C1}"/>
              </a:ext>
            </a:extLst>
          </p:cNvPr>
          <p:cNvSpPr txBox="1"/>
          <p:nvPr/>
        </p:nvSpPr>
        <p:spPr>
          <a:xfrm>
            <a:off x="609441" y="4678160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MMI 2x2 que hemos obtenido a partir del diseño del Lab2.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 MMI utiliza una región central más ancha para excitar varios modos ópticos. Ajustando bien su longitud, esos modos interfieren de forma que la potencia se reparte entre las salidas.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nuestro caso lo hemos usado como divisor/acoplador 50:50, así que hemos mantenido los valores optimizados del Lab2: W_MMI = 6.6 µm y L_MMI = 33.918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Los accesos están colocados en y = ±1.165 µm respecto al eje central, ya que esa posición nos permitía equilibrar mejor la potencia en ambas salidas. Todos los puertos están definidos en la capa WG 1/0, con anchura de 1.7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Según la tabla de puertos, las entradas quedan en x = -20 µm y las salidas en x = 53.918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84A8CBA-7496-B6B4-6C30-A2E6B281D58B}"/>
              </a:ext>
            </a:extLst>
          </p:cNvPr>
          <p:cNvSpPr/>
          <p:nvPr/>
        </p:nvSpPr>
        <p:spPr>
          <a:xfrm>
            <a:off x="609441" y="1418373"/>
            <a:ext cx="5332571" cy="315111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7A328C0-9DD8-A956-F669-A7EB3FFEE992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BE49E5C-3548-7AC4-E148-CAC5211D3758}"/>
              </a:ext>
            </a:extLst>
          </p:cNvPr>
          <p:cNvSpPr/>
          <p:nvPr/>
        </p:nvSpPr>
        <p:spPr>
          <a:xfrm>
            <a:off x="6476841" y="1420406"/>
            <a:ext cx="5332571" cy="313970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993004E-651D-7771-3F79-72D2B8BC0802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1435281-6C51-04E4-1BD5-6716800C5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292" y="1440942"/>
            <a:ext cx="4101668" cy="309635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086EDDF-CF15-7041-1E9C-07960BA637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520619"/>
            <a:ext cx="2458222" cy="293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5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A4BAA-9D79-0F0E-C139-738C048BA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7DB9176-8B73-030B-05E2-963E70D848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44508D-C4D2-BF65-1CBA-05329BE29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D9AF0AC-07FF-2FCA-0428-84348E40888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CFD135D-9FAB-5A78-2CF8-A7081F11B93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D7A5C0E-41AE-D890-978A-700EC4B605BE}"/>
              </a:ext>
            </a:extLst>
          </p:cNvPr>
          <p:cNvSpPr txBox="1"/>
          <p:nvPr/>
        </p:nvSpPr>
        <p:spPr>
          <a:xfrm>
            <a:off x="609441" y="453119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MZI desbalanceado que hemos llevado 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a partir del diseño del Lab3.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Un MZI funciona dividiendo la luz en dos brazos y volviéndola a combinar después, de forma que si los dos caminos tienen distinta longitud, aparece una diferencia de fase dependiente de la longitud de onda y se obtiene una respuesta periódica.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nuestro caso hemos usado una diferencia de longitud ΔL = 120.125 µm, que era la obtenida en Lab3 para buscar un FSR cercano a 10 nm.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lang="es-E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splitter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combiner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hemos reutilizado el MMI 2x2 diseñado anteriormente, de forma que el reparto de potencia sea aproximadamente 50:50.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Todos los puertos están en la capa WG 1/0, con anchura 1.7 µm, y en la tabla se observa que las entradas quedan en x = -20 µm y las salidas en x = 527.936 µm.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9FC2878-DD97-447C-E629-B7B00C45C2EC}"/>
              </a:ext>
            </a:extLst>
          </p:cNvPr>
          <p:cNvSpPr/>
          <p:nvPr/>
        </p:nvSpPr>
        <p:spPr>
          <a:xfrm>
            <a:off x="615192" y="921819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D411EC-B320-89E6-35CD-6A08C8F95786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71BC9EE-FE1C-B87D-65DC-F6541BCC3C80}"/>
              </a:ext>
            </a:extLst>
          </p:cNvPr>
          <p:cNvSpPr/>
          <p:nvPr/>
        </p:nvSpPr>
        <p:spPr>
          <a:xfrm>
            <a:off x="6476841" y="921819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D14849-FB0D-4BA6-B1F4-4C9B70D649CC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F622750-3589-E255-A9B2-BE6B39111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16" y="1030975"/>
            <a:ext cx="4090219" cy="308771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1134127-AEF6-3E4D-F776-6D08D65F3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490" y="1030975"/>
            <a:ext cx="3952619" cy="315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06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AABE9-0626-EDF5-0F4A-70E642B66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0B2A64C5-C05D-6EC8-A032-44B308C7D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9218D80-1E3B-C8C2-0504-3D592D04E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617DA04-9055-28E6-8C91-BBCED8F945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3BDF9C4-35A2-DD02-3699-9CDB07E6FBB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9C8539-4409-5928-8E8F-98CA993768AC}"/>
              </a:ext>
            </a:extLst>
          </p:cNvPr>
          <p:cNvSpPr txBox="1"/>
          <p:nvPr/>
        </p:nvSpPr>
        <p:spPr>
          <a:xfrm>
            <a:off x="480239" y="441932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Este componente es el resonador de anillo tipo “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all-pass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” que hemos pasado 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a partir del diseño del Lab3.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Está formado por una guía recta, llamada bus, acoplada lateralmente a una guía cerrada en forma de anillo. La idea es que parte de la potencia que viaja por la guía bus se acople al anillo y pueda recircular varias veces.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Lab3 diseñamos el resonador para un FSR objetivo de 15 nm, obteniendo una longitud de vuelta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L_ring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80.08 µm y un coeficiente de acoplo objetivo K = 0.5.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hemos usado el radio equivalente calculado a partir de esa longitud, R =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L_ring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/(2π) = 12.75 µm.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Además, hemos añadido una sección recta de acoplo de 10 µm y un gap de 0.25 µm para que la zona de acoplo quede clara en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El componente está definido sobre la capa WG 1/0 con puertos ópticos de anchura 0.5 µm.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7787E4D-39ED-F386-EFA8-0D32EB6389EB}"/>
              </a:ext>
            </a:extLst>
          </p:cNvPr>
          <p:cNvSpPr/>
          <p:nvPr/>
        </p:nvSpPr>
        <p:spPr>
          <a:xfrm>
            <a:off x="480239" y="94065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7F57299-61E6-B7CF-A70E-F7574136DE56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266D32-9194-CA01-87FD-F266A6E0F09C}"/>
              </a:ext>
            </a:extLst>
          </p:cNvPr>
          <p:cNvSpPr/>
          <p:nvPr/>
        </p:nvSpPr>
        <p:spPr>
          <a:xfrm>
            <a:off x="6347639" y="94268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94E525B-3C36-DD3F-000E-CBE03B49BA99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B9CE5E80-1954-7AAC-B2C6-B115E6E63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742" y="979660"/>
            <a:ext cx="3912044" cy="322801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9E51A072-9956-57C7-7FD4-1DB67F3FE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902" y="1117061"/>
            <a:ext cx="3912044" cy="295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esta parte vemos un ejemplo de die o chip como una celda jerárquica. La función define el contorno del chip en la capa FLOORPLAN y añade un borde interior, de forma que podemos visualizar el área útil donde se colocarán los componentes fotónicos.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 importancia de convertirlo en una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cell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radica en que el mismo bloque se puede reutilizar varias veces dentro de un diseño mayor. En la imagen se ven varias instancias del die, con distintos tamaños y posiciones, sin tener que redibujar cada una desde cero.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Esto es especialmente útil ya que en un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real se trabaja de forma jerárquica, como hemos visto en la teoría. Primero se definen bloques básicos y después se colocan y conectan dentro del chip completo.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11DF20-03F2-D3C2-C065-E7998D3484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418" y="1474235"/>
            <a:ext cx="4231416" cy="319430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91E53E29-862A-87EF-3234-B5797B34E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26" y="1756820"/>
            <a:ext cx="5220437" cy="261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63FEAF8-E86E-C0D9-CF90-DD3A4266C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85" y="1471613"/>
            <a:ext cx="5045015" cy="447633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AC46F17-1267-6B68-83EE-DA1150571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1542917"/>
            <a:ext cx="5050810" cy="3812867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719B649-2F96-4D5E-56DF-50E7D4B8AC79}"/>
              </a:ext>
            </a:extLst>
          </p:cNvPr>
          <p:cNvSpPr txBox="1"/>
          <p:nvPr/>
        </p:nvSpPr>
        <p:spPr>
          <a:xfrm>
            <a:off x="6629400" y="5420341"/>
            <a:ext cx="457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/>
              <a:t>La primera instancia es el acoplador direccional visto anteriormente, y adicionalmente con las otras 2 demostramos que la misma celda se puede reutilizar cambiando parámetros.</a:t>
            </a:r>
          </a:p>
        </p:txBody>
      </p:sp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AB2D8-1C39-9C66-9B89-D566CC698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2D48625-1C82-DBB4-913C-70F6C61D1B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CFA9FF5-8FFE-3786-7529-79975F051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E23808-3086-B1BD-C63A-C0F94EA0DEB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29283B-E105-B3E7-20B4-7BCEFC0E71B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636A2A0-F851-A09C-1515-FFD9AC73AE00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C3D586-F8DC-1AE0-3EF9-C133001130A4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026A42F-EF5D-944C-6640-8F379606CA6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2C2DB07-3275-5D21-60B3-79063CF58086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F24CAF-D146-9E5E-789D-B33DF58B78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5795" y="1818094"/>
            <a:ext cx="4794662" cy="36195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6EE7864-1DBE-069C-DE23-6959DE71C3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2594" y="1452411"/>
            <a:ext cx="2800411" cy="473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464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C894-2823-BA52-A099-18B6B3FA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3A1E1B4-2F1B-D00A-6CDB-2F3C89EB13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C1BF71B-393B-9471-A88F-63868BC6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1D1EC0F-1251-D8C6-B16C-970901095A7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2007D0D-6350-5DA5-2051-E90AB4733B1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F4BF54-BAF3-EAA9-7EF2-A4B966C324E5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7781917-5FA1-0802-98FF-5714207293EF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7BE4B45-850A-7A35-89D2-F1C8C0DFC8C9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E09A17F-41A7-3D4D-2A08-E0BA92149893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1FE5DD7-78A1-F92B-C1C4-850DBC9C3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600" y="1676400"/>
            <a:ext cx="2904762" cy="361904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59DB7B7-56AE-2CEC-B1AC-26CB1FFAB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2153" y="1798419"/>
            <a:ext cx="4632428" cy="349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11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BA36C-C775-73C9-1B75-0F0A1F2E8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54CCF96-EC2B-8AEB-C6E8-EC8E2598D6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3262DDE-C09E-5531-BF65-88C5304EF2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CC63B39-FDA6-0108-BC90-3CC04E14236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2143986-4F3F-4FE5-E5A5-FDA459E0915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C3E8DE9-FAAE-7281-B535-7248F032DA1A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C8E6F84-33CF-A1CF-9A7A-546D83111E3D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028C20-15FA-3C83-BC7E-3568B280DA33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5A84EA9-2366-E036-2AC4-7AABF7D3BAFA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07358E-D471-C32C-094B-CA591D03A1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6400" y="1493735"/>
            <a:ext cx="2651801" cy="464631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CC882DB-EEBA-F031-CE45-48E89D9CE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623" y="1981200"/>
            <a:ext cx="5029005" cy="379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669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24384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4"/>
            <a:ext cx="5638800" cy="373411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92BE973-5D1F-A862-0F22-A6674CE1A2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6643" y="1102341"/>
            <a:ext cx="4542312" cy="3429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3A68B08-AEAA-4B4B-082A-797A5B400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99" y="1016308"/>
            <a:ext cx="5257801" cy="231948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F02A9976-6DA1-7231-CF65-F5264F2A9111}"/>
              </a:ext>
            </a:extLst>
          </p:cNvPr>
          <p:cNvSpPr txBox="1"/>
          <p:nvPr/>
        </p:nvSpPr>
        <p:spPr>
          <a:xfrm>
            <a:off x="647699" y="3752165"/>
            <a:ext cx="5410200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Este es el primer bloque componente principal del </a:t>
            </a:r>
            <a:r>
              <a:rPr lang="es-ES" sz="1200" dirty="0" err="1"/>
              <a:t>layout</a:t>
            </a:r>
            <a:r>
              <a:rPr lang="es-ES" sz="1200" dirty="0"/>
              <a:t> (</a:t>
            </a:r>
            <a:r>
              <a:rPr lang="es-ES" sz="1200" dirty="0" err="1"/>
              <a:t>main</a:t>
            </a:r>
            <a:r>
              <a:rPr lang="es-ES" sz="1200" dirty="0"/>
              <a:t>) y se añade el contorno del chip mediante la celda die, usando la capa FLOORPLAN.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él se coloca un MMI 1x2 dentro del chip, cerca de la parte inferior, para usarlo como primer ejemplo de circuito integrado dentro del die.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A continuación, el script añadide tres guías rectas en los bordes del chip (una de entrada y dos de salida). Estas guías sirven para que el corte del chip se haga sobre tramos rectos, lo cual es más práctico para acoplar luz desde el exterior.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Finalmente se conecta el MMI con esas guías usando rutas (tipo S-</a:t>
            </a:r>
            <a:r>
              <a:rPr lang="es-ES" sz="1200" dirty="0" err="1"/>
              <a:t>bend</a:t>
            </a:r>
            <a:r>
              <a:rPr lang="es-ES" sz="1200" dirty="0"/>
              <a:t>), evitando conexiones bruscas y manteniendo la trayectoria para las guías ópticas.</a:t>
            </a:r>
          </a:p>
        </p:txBody>
      </p:sp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C750-334F-A36E-45EA-81778FEA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3E98860-D68E-8238-F22B-1883D5A56C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7089EF5-B97E-500C-7914-396076B85A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FB93584-649B-C8FD-671F-BCA32370854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A731C17-405C-8BFF-399F-69979094816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1D8815-3331-A485-089D-E5CE76D4FD7B}"/>
              </a:ext>
            </a:extLst>
          </p:cNvPr>
          <p:cNvSpPr txBox="1"/>
          <p:nvPr/>
        </p:nvSpPr>
        <p:spPr>
          <a:xfrm>
            <a:off x="685800" y="990600"/>
            <a:ext cx="5410200" cy="35209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069E3F7-1BF2-BBAF-2DDC-F2649BBB8405}"/>
              </a:ext>
            </a:extLst>
          </p:cNvPr>
          <p:cNvSpPr/>
          <p:nvPr/>
        </p:nvSpPr>
        <p:spPr>
          <a:xfrm>
            <a:off x="6248400" y="990285"/>
            <a:ext cx="5638799" cy="3543105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E629C66-9D76-C925-21C6-98D06D8DEE36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1689B31-2A71-546C-E22E-B7FA71379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709" y="1027926"/>
            <a:ext cx="5282381" cy="332594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6456A8E-7B97-81E7-DD03-44B8CDD6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9968" y="1009262"/>
            <a:ext cx="4614613" cy="3483581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1D7295D-45AA-B903-8705-778F6AC88139}"/>
              </a:ext>
            </a:extLst>
          </p:cNvPr>
          <p:cNvSpPr txBox="1"/>
          <p:nvPr/>
        </p:nvSpPr>
        <p:spPr>
          <a:xfrm>
            <a:off x="685800" y="4741284"/>
            <a:ext cx="9601200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este bloque se convierte el árbol de </a:t>
            </a:r>
            <a:r>
              <a:rPr lang="es-ES" sz="1200" dirty="0" err="1"/>
              <a:t>MMIs</a:t>
            </a:r>
            <a:r>
              <a:rPr lang="es-ES" sz="1200" dirty="0"/>
              <a:t> 1x4 en una celda jerárquica mediante @gf.cell.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La estructura se construye con tres </a:t>
            </a:r>
            <a:r>
              <a:rPr lang="es-ES" sz="1200" dirty="0" err="1"/>
              <a:t>MMIs</a:t>
            </a:r>
            <a:r>
              <a:rPr lang="es-ES" sz="1200" dirty="0"/>
              <a:t> 1x2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s-ES" sz="1200" dirty="0"/>
              <a:t>el primero divide la señal inicial y sus dos salidas se conectan a otros dos </a:t>
            </a:r>
            <a:r>
              <a:rPr lang="es-ES" sz="1200" dirty="0" err="1"/>
              <a:t>MMIs</a:t>
            </a:r>
            <a:r>
              <a:rPr lang="es-ES" sz="1200" dirty="0"/>
              <a:t>, obteniendo finalmente cuatro salidas ópticas.</a:t>
            </a:r>
          </a:p>
          <a:p>
            <a:endParaRPr lang="es-E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El árbol completo queda encapsulado como un único bloque reutilizable, con sus propios puertos de entrada y salida (o1–o5.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Después, esa celda se instancia dentro del componente principal “</a:t>
            </a:r>
            <a:r>
              <a:rPr lang="es-ES" sz="1200" dirty="0" err="1"/>
              <a:t>main</a:t>
            </a:r>
            <a:r>
              <a:rPr lang="es-ES" sz="1200" dirty="0"/>
              <a:t>”, que ya contiene el contorno del chip.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la captura se ve cómo el bloque 1x4 queda colocado dentro del die y preparado para ser conectado al resto del </a:t>
            </a:r>
            <a:r>
              <a:rPr lang="es-ES" sz="1200" dirty="0" err="1"/>
              <a:t>layout</a:t>
            </a:r>
            <a:r>
              <a:rPr lang="es-ES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9413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4B787-CC10-8F68-E5EB-26657FC9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C82B2D1-9FC9-D17E-478A-F4E575B83B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120E1C-1457-5A3A-4F68-3BB74BD32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9E0E49D-9148-B4E4-2681-94911D9360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EDE9CA4-7157-9BFB-04DB-852A6820101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AD70E3B-C524-BB72-C065-3A11722B04E2}"/>
              </a:ext>
            </a:extLst>
          </p:cNvPr>
          <p:cNvSpPr txBox="1"/>
          <p:nvPr/>
        </p:nvSpPr>
        <p:spPr>
          <a:xfrm>
            <a:off x="685800" y="990600"/>
            <a:ext cx="5410200" cy="35443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98A6085-9CBB-565B-F0F0-7EF9CDC8DEDD}"/>
              </a:ext>
            </a:extLst>
          </p:cNvPr>
          <p:cNvSpPr/>
          <p:nvPr/>
        </p:nvSpPr>
        <p:spPr>
          <a:xfrm>
            <a:off x="6248400" y="990285"/>
            <a:ext cx="5638799" cy="354470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956ED85-6D87-4971-FA7B-0BD19044B770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14B6168-4878-1BEF-9843-BC0217E1E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066" y="1026057"/>
            <a:ext cx="4648200" cy="350893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70BD65C-C96F-5435-105A-6AE2C0CB2D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26057"/>
            <a:ext cx="4834070" cy="331083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31A042EC-CBB1-DF97-AF90-A17E68D2AD9A}"/>
              </a:ext>
            </a:extLst>
          </p:cNvPr>
          <p:cNvSpPr txBox="1"/>
          <p:nvPr/>
        </p:nvSpPr>
        <p:spPr>
          <a:xfrm>
            <a:off x="685800" y="4718849"/>
            <a:ext cx="10994410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En este último bloque se completa el </a:t>
            </a:r>
            <a:r>
              <a:rPr lang="es-ES" sz="1200" dirty="0" err="1"/>
              <a:t>layout</a:t>
            </a:r>
            <a:r>
              <a:rPr lang="es-ES" sz="1200" dirty="0"/>
              <a:t> añadiendo </a:t>
            </a:r>
            <a:r>
              <a:rPr lang="es-ES" sz="1200" dirty="0" err="1"/>
              <a:t>arrays</a:t>
            </a:r>
            <a:r>
              <a:rPr lang="es-ES" sz="1200" dirty="0"/>
              <a:t> de guías rectas en los bordes izquierdo y derecho del chip.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Estas guías actúan como accesos ópticos ordenados y facilitan que las entradas y salidas del circuito lleguen hasta el borde del die en tramos rectos.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Después, la celda del árbol MMI 1x4 se coloca dentro del componente principal y se conecta mediante rutas S-</a:t>
            </a:r>
            <a:r>
              <a:rPr lang="es-ES" sz="1200" dirty="0" err="1"/>
              <a:t>bend</a:t>
            </a:r>
            <a:r>
              <a:rPr lang="es-ES" sz="1200" dirty="0"/>
              <a:t> (una guía de entrada alimenta el puerto o1 del árbol y las cuatro salidas o2 a o5 se conectan a las cuatro guías del array de salida.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Con esto se obtiene un </a:t>
            </a:r>
            <a:r>
              <a:rPr lang="es-ES" sz="1200" dirty="0" err="1"/>
              <a:t>layout</a:t>
            </a:r>
            <a:r>
              <a:rPr lang="es-ES" sz="1200" dirty="0"/>
              <a:t> más completo, donde ya no solo aparece el componente interno, sino también su conexión hacia los bordes del chip.</a:t>
            </a:r>
          </a:p>
        </p:txBody>
      </p:sp>
    </p:spTree>
    <p:extLst>
      <p:ext uri="{BB962C8B-B14F-4D97-AF65-F5344CB8AC3E}">
        <p14:creationId xmlns:p14="http://schemas.microsoft.com/office/powerpoint/2010/main" val="3339079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87F0-CB2C-2FE5-5614-A0F16A62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02B708D-0704-5977-EC6F-88CF05CBB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5386122-0096-23D3-AB3A-550FBF0A3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3FD8D6-DEAF-544C-DE8A-FEED1CFD257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B40145-CD7B-EB6E-E37D-B6E973BB915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C6D55FC-5031-5DAE-893E-BF1355747932}"/>
              </a:ext>
            </a:extLst>
          </p:cNvPr>
          <p:cNvSpPr txBox="1"/>
          <p:nvPr/>
        </p:nvSpPr>
        <p:spPr>
          <a:xfrm>
            <a:off x="685800" y="990600"/>
            <a:ext cx="1099441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Code for …</a:t>
            </a:r>
          </a:p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a) Creating components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 unbalanced MZI, using 2x2 50:50 MMIs with arm length difference as parameter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arms have thermal tuners on top of each one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an all-pass ring resonator, using 2x2 50:50 MMIs, with extra length parameter for different perimeters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ring has a thermal tuner on top along all the perimeter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existing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spiral components, with length as parameter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b) Creating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die  W = 5 mm x L = 10 mm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an array of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spaced at 250 µm (as much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 the width allows)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of this die, with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c)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Floorplaning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and die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Make an instance of the die as host component for your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3 sets of 3 straight waveguides, from left to right of the die, top, middle and bottom of the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8738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2C653-9562-D589-2BF8-8423D69E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5998C4A-7680-E519-E806-6C60AB4885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5591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50" b="0" dirty="0">
                <a:latin typeface="Arial" panose="020B0604020202020204" pitchFamily="34" charset="0"/>
                <a:cs typeface="Arial" panose="020B0604020202020204" pitchFamily="34" charset="0"/>
              </a:rPr>
              <a:t>a.1 - Create a cell component for a unbalanced MZI, using 2x2 50:50 MMIs with arm length difference as parameter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91DFDEF-C50C-3280-6EA8-6006F0A0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47D54F5-AA72-2DD6-DE58-14C8FDE7EC1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D5BA6E1-0DC0-62A5-D071-796F408C30F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E52EB8F-C2E2-D47B-CE3F-7A4163C55EDB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1656123-9AD5-3974-EBAD-8A448DD59F95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E76385D-EC3E-DDE3-6868-397A1EB1EB3F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D38230E-A3DC-7C24-2E85-F09226F13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1033482"/>
            <a:ext cx="2604691" cy="510677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62179F6-F737-81D4-E98A-34A9B6286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9837" y="1514192"/>
            <a:ext cx="5475923" cy="4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484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F203A-8215-25B5-8B2A-489581AEC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59BA4C-B1E9-F066-1E47-1709420949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6693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a.2 - Create a cell component based on the previous, where the arms have thermal tuners on top of each one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A34506D3-8FC1-885B-9C2C-0BA5B9B0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ACD2269-956D-1534-4306-A296E6E161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53C4C8-9AB8-781D-85AB-A0B46DB3B77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C900D46-7782-2BEE-F7C0-6F46787B8B2B}"/>
              </a:ext>
            </a:extLst>
          </p:cNvPr>
          <p:cNvSpPr txBox="1"/>
          <p:nvPr/>
        </p:nvSpPr>
        <p:spPr>
          <a:xfrm>
            <a:off x="685800" y="1143000"/>
            <a:ext cx="5410200" cy="50292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5FAB87D-75BF-98C8-5845-385E694B363D}"/>
              </a:ext>
            </a:extLst>
          </p:cNvPr>
          <p:cNvSpPr/>
          <p:nvPr/>
        </p:nvSpPr>
        <p:spPr>
          <a:xfrm>
            <a:off x="6248400" y="1142683"/>
            <a:ext cx="5638799" cy="5029201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908B4A8-9379-BB70-6D84-97769E3C838C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0A5FB95-D2F5-940B-4C7B-24F618FB2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113" y="1190962"/>
            <a:ext cx="3073487" cy="496606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37CDAE3-D625-3F7D-4FCA-66E166B4DA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1718194"/>
            <a:ext cx="5181602" cy="3911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404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C9BD-1AE0-4352-C81F-CFB7637C7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031A897-C916-CECE-71DA-FF86F0336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5591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a.3 - Create a cell component for an all-pass ring resonator, using 2x2 50:50 MMIs, with extra length parameter for different perimeters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24D157F-0FC3-5A17-B27F-E84F72E878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581B7CC-7557-8B44-C565-599881931DA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B4B44D6-6E4C-B044-8303-ACCF65FBB1B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70EB62-2B9D-A0B9-47D4-09511D8EB6C5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7C27BCA-43D1-E221-BADE-A381A0EC061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1E2CF23-CBF7-FD55-3E3C-50034A5613E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DE79CD8-0A99-CB95-E1F9-6338D72A4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066800"/>
            <a:ext cx="5638799" cy="42567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1216466-B937-CEE4-6A2A-109DEB415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0" y="1122247"/>
            <a:ext cx="3657600" cy="4978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74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DD1D-BD5E-7EAD-B46C-813E47D18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882727C-203B-0970-47CC-735B0EE9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03490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a.4 - Create a cell component based on the previous, where the ring has a thermal tuner on top along all the perimeter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000" b="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1D5FCF0-F8C7-F222-34F9-006BEE9288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70F9E65-2032-8EF0-77E5-6C04B9397ED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05A7E75-8376-114A-4F02-EA8BC3316D8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09C31B3-795C-0997-6A5D-CDE58581965C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A649CC-2823-414B-E36B-9B067EE793D9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EA0010D-79EA-C154-AF4B-775A7592DA6B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5766E35-F76B-C283-A90A-3BBB2B8C8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895" y="1592225"/>
            <a:ext cx="5400304" cy="40767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DAD899C-3F8C-09AD-3CAE-9FEDBA0CC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3576" y="1165082"/>
            <a:ext cx="3837384" cy="470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011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F2B0F-7DF0-9974-96DD-BB957915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64B474D-03D9-36C7-DCDC-9C38F22BB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a.5 - Create a cell component based on existing </a:t>
            </a:r>
            <a:r>
              <a:rPr lang="en-US" sz="1000" b="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 spiral components, with length as parameter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CFF5E76-8409-E38C-8D5B-A5DA81697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C1D0166-A435-B89A-3DFC-F7F0E911C5C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F354CEB-1664-C70F-E935-7584203FAC0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89561FE-14E7-702D-6992-F18090A9980F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2E7E3F7-B4E7-B1C8-A414-CF1FCAD5D1AF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3B98C5B-9C4A-2552-3AD1-F49BDFB1495D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1ECF392-87DA-DBF3-D897-3D0FB955F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955" y="1398716"/>
            <a:ext cx="5501244" cy="41529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C60FC10-CE1D-E358-8D57-819A5EF8DF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76" y="1143548"/>
            <a:ext cx="4142047" cy="502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6461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D479-66C2-1F38-F121-7288EDAC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2C6A0C2-CFD1-F1E2-D1ED-3BC05AC04C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236095"/>
            <a:ext cx="1099441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/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b.1 - Create a die  W = 5 mm x L = 10 mm </a:t>
            </a: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78E3630-73F3-4B5C-6C53-1390DF0B79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F6C667E-C67D-DE2B-AD21-9ABF8A826D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5C8F0F1-6C1C-059F-38BC-046D1641B17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2A2AA43-F160-E410-C695-3B89A5A23644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39BB52-75F7-70EA-F4C3-B8DC5ED6A2A0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779E9D8-F8EE-DF7A-3A08-5669A152B890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DC9304E-A353-6864-958A-9810EB857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911" y="1471166"/>
            <a:ext cx="5309299" cy="400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5F3A6E8-2D1B-B4EF-07B0-191D3E909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690" y="1449395"/>
            <a:ext cx="4526219" cy="393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005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96504-BD27-E31B-7EC2-DC7A32D44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871658E-0EA6-B7D5-7682-2388B4DBE7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b.2 - Create an array of I/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spaced at 250 µm (as much I/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as the width allows)</a:t>
            </a:r>
            <a:b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- b.3 - Create a cell component of this die, with I/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D5E2E7-892E-4EF4-C780-C8F0069924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6766432-4165-11DB-60A8-73D5FEF37E2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690A5AB-92F3-3D64-C6E2-D710AD17ED3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8AF5752-0B83-8AE1-48D8-5F6368577215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548C383-2FE3-42F1-982B-E1043B24E8A5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22ADBC9-DA5C-6E38-7C75-5441AC3BE73C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B96805-730D-2DBB-B03E-C663FB6E3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1191846"/>
            <a:ext cx="3374944" cy="490239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B387821-8E24-C45B-20D7-F0E895189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694" y="1630203"/>
            <a:ext cx="5108210" cy="385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251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89C1-8DBA-734E-9D26-C529559E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B27A192B-6BC8-0CD3-BF83-D9FC3BB438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551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b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b.3 - Create a cell component of this die, with I/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929D0D9-C170-FB99-DA65-F684A29DA6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3663BA7-2F21-CD84-95AF-621A5B58868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3EC8435-7E4C-72A3-FA0C-94C4C7BFB14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BA0AFE4-0409-BDAF-347F-AC56E98ED3E8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C9E3223-C31F-8E7D-9391-09CA8E28CB6E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0684A1C-50A7-2442-4A39-AEDD1798253F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BA8C24C-143B-DEF0-E48B-A401BF03D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699" y="1386914"/>
            <a:ext cx="5410200" cy="408417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4B9D67E-CDCD-863E-C3B9-2704CA586E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716" y="1328001"/>
            <a:ext cx="2645298" cy="420199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16BBAA3-43ED-6631-DD6F-0276E8DD35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5595" y="2162740"/>
            <a:ext cx="2785599" cy="2925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587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43E53-4D7E-D208-7DD0-3D98A520C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269332D-CBF8-79AF-A8E1-3E884A976E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1669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/>
            <a:r>
              <a:rPr lang="en-US" sz="2500" dirty="0"/>
              <a:t>Learning outcome #4 – Notebook section 4. Exercises – 1 slide per bullet point</a:t>
            </a:r>
            <a:br>
              <a:rPr lang="en-US" sz="2500" dirty="0"/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c.1 - Make an instance of the die as host component for your layout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Add 3 sets of 3 straight waveguides, from left to right of the die, top, middle and bottom of the die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000" b="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DA6EC28-008B-2FAF-86AC-70957280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3D831B3E-7EBF-A049-258C-2C7DF62BF73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4F69F0E-2540-1CB8-BC48-A26E614E829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6768242-A916-C0F8-6159-FF0B625D0861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1B06996-95B0-73BA-C53B-85D2424AF03A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AFD6488-7AA2-06C0-BA7B-25DBE8C8B88C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BDF1A71-F031-39FF-85C0-9FCEBB88E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938" y="1665416"/>
            <a:ext cx="4794662" cy="36195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CCB6CE0-1A99-635B-3343-3E0E4E365F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1886633"/>
            <a:ext cx="3865229" cy="266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4327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7F3BF-9EC5-35C4-53BA-530D6F7E6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E6E7D8B-E221-38DC-9A3B-623D30B157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130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/>
            <a:r>
              <a:rPr lang="en-US" sz="2500" dirty="0"/>
              <a:t>Learning outcome #4 – Notebook section 4. Exercises – 1 slide per bullet point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c.2 - Add 3 sets of 3 straight waveguides, from left to right of the die, top, middle and bottom of the die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000" b="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D91C3D5-3D56-70E0-D0A6-45C056626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7610FFB-9F22-100B-4DD3-9C9113A737A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ADB6DF3-8F54-999A-3925-FA33811CC25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256A6B2-F81B-A952-C1FF-DAB68459880E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B5D49EA-6B75-2278-66DF-05932AF0A6D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AE820D2-D4DF-2A72-40ED-2E1ACA1A4A76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DBA357E-B934-FEBE-C1EB-D2CAC1470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686" y="1605838"/>
            <a:ext cx="5246914" cy="396090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0F3A740-206F-921D-996A-4FCD32C04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706838"/>
            <a:ext cx="4170240" cy="332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7567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5968E-C732-BD6E-BAB2-5D13E85BF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B5E844F1-904A-A975-2E6D-0E8C4CA71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/>
            <a:r>
              <a:rPr lang="en-US" sz="2500" dirty="0"/>
              <a:t>Learning outcome #4 – Notebook section 4. Exercises – 1 slide per bullet point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c.3 - Add 2 of each of the components above, with different lengths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000" b="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757AE1F-60BC-E1B4-69E2-6A51F6CF9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AE1A8DA-58B8-7718-EF9B-19AAAF3332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D65EDC1-48E1-C37A-C7F5-1E13E44ABE35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CD1F7C1-3DA4-63AA-BD99-0737D4ADCCDF}"/>
              </a:ext>
            </a:extLst>
          </p:cNvPr>
          <p:cNvSpPr txBox="1"/>
          <p:nvPr/>
        </p:nvSpPr>
        <p:spPr>
          <a:xfrm>
            <a:off x="609600" y="990285"/>
            <a:ext cx="5571546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522B4AB-BD35-E39E-130E-96C4FE69ADD2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A219116-61D9-7B78-471D-2DA1EFB1E44B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D4C842-BBDF-E479-4C4A-14A957C5B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423148"/>
            <a:ext cx="5638799" cy="425674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86B0523-A4D3-3CC7-2E49-F8DFC5E09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143000"/>
            <a:ext cx="3733800" cy="4601124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F1E3BE1-5AB4-1236-5D9E-68B62399E412}"/>
              </a:ext>
            </a:extLst>
          </p:cNvPr>
          <p:cNvSpPr txBox="1"/>
          <p:nvPr/>
        </p:nvSpPr>
        <p:spPr>
          <a:xfrm>
            <a:off x="838200" y="5715000"/>
            <a:ext cx="167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1440389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F0C40-D74B-FE01-7FB1-58871B4DD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8C5686E-7C12-8407-6954-D1C8D01ACE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l"/>
            <a:r>
              <a:rPr lang="en-US" sz="2500" dirty="0"/>
              <a:t>Learning outcome #4 – Notebook section 4. Exercises – 1 slide per bullet point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Connect all your components to the I/</a:t>
            </a:r>
            <a:r>
              <a:rPr lang="en-US" sz="1000" b="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0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1F98F34-463A-D8FF-ADD7-10ECD083C0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44A30C-6AA7-0B49-7479-10F0088A93A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C2EA24D-5723-1AB9-7F66-7C92F3270DE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0ED2251-C3BC-06CE-C4BD-96471360DF53}"/>
              </a:ext>
            </a:extLst>
          </p:cNvPr>
          <p:cNvSpPr txBox="1"/>
          <p:nvPr/>
        </p:nvSpPr>
        <p:spPr>
          <a:xfrm>
            <a:off x="7250047" y="1114204"/>
            <a:ext cx="4648039" cy="488371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final hemos usado un die de 10 ×5 mm con los accesos ópticos separados 250 micras.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Hemos reservado nueve pares de puertos para las guías rectas de referencia</a:t>
            </a:r>
          </a:p>
          <a:p>
            <a:pPr marL="628650" lvl="1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tres en la parte inferior</a:t>
            </a:r>
          </a:p>
          <a:p>
            <a:pPr marL="628650" lvl="1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tres en el centro</a:t>
            </a:r>
          </a:p>
          <a:p>
            <a:pPr marL="628650" lvl="1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tres en la parte superior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los puertos restantes hemos colocado dos versiones de cada componente, cambiando parámetros como la diferencia de longitud de los MZI, el perímetro de los anillos y la longitud de las espirales.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Los dispositivos se han distribuido en dos zonas del chip y se han alineado con las filas de entrada y salida para simplificar las conexiones.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 vista completa algunos componentes apenas se distinguen porque son mucho más pequeños que el die, pero todos quedan dentro del área útil y conectados a sus I/Outputs.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El resultado demuestra que las celdas creadas anteriormente se pueden reutilizar y combinar dentro de un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jerárquico más grande.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6DFE6AB-7E6B-6F25-C9CF-F270ADF00B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103318"/>
            <a:ext cx="6705600" cy="506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790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1829</TotalTime>
  <Words>3170</Words>
  <Application>Microsoft Office PowerPoint</Application>
  <PresentationFormat>Panorámica</PresentationFormat>
  <Paragraphs>275</Paragraphs>
  <Slides>29</Slides>
  <Notes>26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1 slide per component “Use your design results from Lab2 and Lab3 to create layout instances of your designed components: DCs, MMIs, MZIs &amp; Ring Resonators”</vt:lpstr>
      <vt:lpstr>Learning outcome #1b – Notebook section 1. Technology – 1 slide per component </vt:lpstr>
      <vt:lpstr>Learning outcome #1b – Notebook section 1. Technology – 1 slide per component </vt:lpstr>
      <vt:lpstr>Learning outcome #1b – Notebook section 1. Technology – 1 slide per component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#3 – Notebook section 3. Complete layout</vt:lpstr>
      <vt:lpstr>Learning outcome #3 – Notebook section 3. Complete layout</vt:lpstr>
      <vt:lpstr>Learning outcome #4 – Notebook section 4. Exercises – 1 slide per bullet point</vt:lpstr>
      <vt:lpstr>Learning outcome #4 – Notebook section 4. Exercises – 1 slide per bullet point a.1 - Create a cell component for a unbalanced MZI, using 2x2 50:50 MMIs with arm length difference as parameter</vt:lpstr>
      <vt:lpstr>Learning outcome #4 – Notebook section 4. Exercises – 1 slide per bullet point a.2 - Create a cell component based on the previous, where the arms have thermal tuners on top of each one </vt:lpstr>
      <vt:lpstr>Learning outcome #4 – Notebook section 4. Exercises – 1 slide per bullet point a.3 - Create a cell component for an all-pass ring resonator, using 2x2 50:50 MMIs, with extra length parameter for different perimeters</vt:lpstr>
      <vt:lpstr>Learning outcome #4 – Notebook section 4. Exercises – 1 slide per bullet point a.4 - Create a cell component based on the previous, where the ring has a thermal tuner on top along all the perimeter </vt:lpstr>
      <vt:lpstr>Learning outcome #4 – Notebook section 4. Exercises – 1 slide per bullet point a.5 - Create a cell component based on existing GDSfactory spiral components, with length as parameter </vt:lpstr>
      <vt:lpstr>Learning outcome #4 – Notebook section 4. Exercises – 1 slide per bullet point b.1 - Create a die  W = 5 mm x L = 10 mm </vt:lpstr>
      <vt:lpstr>Learning outcome #4 – Notebook section 4. Exercises – 1 slide per bullet point b.2 - Create an array of I/Os spaced at 250 µm (as much I/Os as the width allows) - b.3 - Create a cell component of this die, with I/Os accessible to connect</vt:lpstr>
      <vt:lpstr>Learning outcome #4 – Notebook section 4. Exercises – 1 slide per bullet point b.3 - Create a cell component of this die, with I/Os accessible to connect</vt:lpstr>
      <vt:lpstr>Learning outcome #4 – Notebook section 4. Exercises – 1 slide per bullet point c.1 - Make an instance of the die as host component for your layout - Add 3 sets of 3 straight waveguides, from left to right of the die, top, middle and bottom of the die - Add 2 of each of the components above, with different lengths - Connect all your components to the I/Os  </vt:lpstr>
      <vt:lpstr>Learning outcome #4 – Notebook section 4. Exercises – 1 slide per bullet point c.2 - Add 3 sets of 3 straight waveguides, from left to right of the die, top, middle and bottom of the die - Add 2 of each of the components above, with different lengths - Connect all your components to the I/Os  </vt:lpstr>
      <vt:lpstr>Learning outcome #4 – Notebook section 4. Exercises – 1 slide per bullet point c.3 - Add 2 of each of the components above, with different lengths - Connect all your components to the I/Os  </vt:lpstr>
      <vt:lpstr>Learning outcome #4 – Notebook section 4. Exercises – 1 slide per bullet point Connect all your components to the I/Os 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Pablo de Manuel Y Vicente</cp:lastModifiedBy>
  <cp:revision>38</cp:revision>
  <dcterms:created xsi:type="dcterms:W3CDTF">2025-01-27T02:46:57Z</dcterms:created>
  <dcterms:modified xsi:type="dcterms:W3CDTF">2026-06-10T12:36:42Z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